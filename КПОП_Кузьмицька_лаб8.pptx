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3" r:id="rId5"/>
    <p:sldId id="264" r:id="rId6"/>
    <p:sldId id="265" r:id="rId7"/>
    <p:sldId id="266" r:id="rId8"/>
    <p:sldId id="267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ADBE98-B557-4879-9BAE-39B63F13218B}" v="156" dt="2025-11-29T02:47:54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60075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020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04886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5576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54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2664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39952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0208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292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7760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3557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7004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 цита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891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Істина/хибні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54250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3096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0950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B33C3-E42A-4CC2-8346-4A96A68B569F}" type="datetimeFigureOut">
              <a:rPr lang="uk-UA" smtClean="0"/>
              <a:t>29.11.2025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19F2296-11E3-48E5-A561-0FDE16233B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52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andomuser.me/api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randomuser.me/api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96A04-04E3-84BB-7644-D87C253D34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Демонстрація</a:t>
            </a:r>
            <a:r>
              <a:rPr lang="ru-RU" dirty="0"/>
              <a:t> </a:t>
            </a:r>
            <a:r>
              <a:rPr lang="ru-RU" dirty="0" err="1"/>
              <a:t>застосування</a:t>
            </a:r>
            <a:r>
              <a:rPr lang="ru-RU" dirty="0"/>
              <a:t> дизайн-</a:t>
            </a:r>
            <a:r>
              <a:rPr lang="ru-RU" dirty="0" err="1"/>
              <a:t>патернів</a:t>
            </a:r>
            <a:r>
              <a:rPr lang="ru-RU" dirty="0"/>
              <a:t> у </a:t>
            </a:r>
            <a:r>
              <a:rPr lang="ru-RU" dirty="0" err="1"/>
              <a:t>вебзастосунку</a:t>
            </a:r>
            <a:r>
              <a:rPr lang="ru-RU" dirty="0"/>
              <a:t> на </a:t>
            </a:r>
            <a:r>
              <a:rPr lang="ru-RU" dirty="0" err="1"/>
              <a:t>Angular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7807C29-0137-657E-1E20-1F6E116D60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 err="1"/>
              <a:t>Кузьмицька</a:t>
            </a:r>
            <a:r>
              <a:rPr lang="uk-UA" dirty="0"/>
              <a:t> Дар</a:t>
            </a:r>
            <a:r>
              <a:rPr lang="en-US" dirty="0"/>
              <a:t>’</a:t>
            </a:r>
            <a:r>
              <a:rPr lang="uk-UA" dirty="0"/>
              <a:t>я, ПП-32</a:t>
            </a:r>
          </a:p>
        </p:txBody>
      </p:sp>
    </p:spTree>
    <p:extLst>
      <p:ext uri="{BB962C8B-B14F-4D97-AF65-F5344CB8AC3E}">
        <p14:creationId xmlns:p14="http://schemas.microsoft.com/office/powerpoint/2010/main" val="2551009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A473B-E808-3FF1-60EF-9FD30118C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Опис застосунку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E8B76D0-F56D-4959-BBDC-E3536CC339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267177"/>
            <a:ext cx="978687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Застосунок отримує дані про користувачів з API: 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https://randomuser.me/api/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Відображає дані у таблиці (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UsersTableComponent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en-US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Клік по рядку таблиці відкриває спливаюче вікно з детальною інформацією про користувача.</a:t>
            </a:r>
            <a:endParaRPr kumimoji="0" lang="en-US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Можливість додати користувача у «вибране» через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Збереження вибраного списку у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Вивід вибраних користувачів у окремому компоненті (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FavoritesComponent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en-US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 графічної бібліотеки ng2-charts для побудови графіку за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гендером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користувачів (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GenderChartComponent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462869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2AF500-9D8A-75E0-DB37-DC72A29B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Архітектура застосунку</a:t>
            </a:r>
          </a:p>
        </p:txBody>
      </p:sp>
      <p:sp>
        <p:nvSpPr>
          <p:cNvPr id="7" name="Місце для вмісту 6">
            <a:extLst>
              <a:ext uri="{FF2B5EF4-FFF2-40B4-BE49-F238E27FC236}">
                <a16:creationId xmlns:a16="http://schemas.microsoft.com/office/drawing/2014/main" id="{F3537238-7BAE-47AD-BBA7-7C7A783B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09" y="1779336"/>
            <a:ext cx="9412887" cy="50786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uk-UA" sz="2200" dirty="0"/>
              <a:t>Застосунок розроблено з використанням </a:t>
            </a:r>
            <a:r>
              <a:rPr lang="en-US" sz="2200" dirty="0"/>
              <a:t>Angular Standalone </a:t>
            </a:r>
            <a:endParaRPr lang="uk-UA" sz="2200" dirty="0"/>
          </a:p>
          <a:p>
            <a:pPr marL="0" indent="0">
              <a:buNone/>
            </a:pPr>
            <a:r>
              <a:rPr lang="uk-UA" sz="2200" dirty="0"/>
              <a:t>Компоненти:</a:t>
            </a:r>
          </a:p>
          <a:p>
            <a:r>
              <a:rPr lang="en-US" sz="2200" b="1" dirty="0" err="1"/>
              <a:t>AppComponent</a:t>
            </a:r>
            <a:r>
              <a:rPr lang="en-US" sz="2200" b="1" dirty="0"/>
              <a:t>:</a:t>
            </a:r>
            <a:r>
              <a:rPr lang="en-US" sz="2200" dirty="0"/>
              <a:t> </a:t>
            </a:r>
            <a:r>
              <a:rPr lang="uk-UA" sz="2200" dirty="0"/>
              <a:t>Головний компонент застосунку, забезпечує доступ до сервісу </a:t>
            </a:r>
            <a:r>
              <a:rPr lang="en-US" sz="2200" dirty="0" err="1"/>
              <a:t>UserService</a:t>
            </a:r>
            <a:r>
              <a:rPr lang="en-US" sz="2200" dirty="0"/>
              <a:t> </a:t>
            </a:r>
            <a:r>
              <a:rPr lang="uk-UA" sz="2200" dirty="0"/>
              <a:t>та виступає контейнером для інших компонентів.</a:t>
            </a:r>
          </a:p>
          <a:p>
            <a:r>
              <a:rPr lang="en-US" sz="2200" b="1" dirty="0" err="1"/>
              <a:t>UsersTableComponent</a:t>
            </a:r>
            <a:r>
              <a:rPr lang="en-US" sz="2200" b="1" dirty="0"/>
              <a:t>:</a:t>
            </a:r>
            <a:r>
              <a:rPr lang="en-US" sz="2200" dirty="0"/>
              <a:t> </a:t>
            </a:r>
            <a:r>
              <a:rPr lang="uk-UA" sz="2200" dirty="0"/>
              <a:t>Відображає таблицю користувачів, містить логіку завантаження даних з </a:t>
            </a:r>
            <a:r>
              <a:rPr lang="en-US" sz="2200" dirty="0"/>
              <a:t>API (</a:t>
            </a:r>
            <a:r>
              <a:rPr lang="en-US" sz="2200" dirty="0">
                <a:hlinkClick r:id="rId2"/>
              </a:rPr>
              <a:t>https://randomuser.me/api/</a:t>
            </a:r>
            <a:r>
              <a:rPr lang="en-US" sz="2200" dirty="0"/>
              <a:t>), </a:t>
            </a:r>
            <a:r>
              <a:rPr lang="uk-UA" sz="2200" dirty="0"/>
              <a:t>управління станом завантаження та помилок, відкриття детальної інформації про користувача у </a:t>
            </a:r>
            <a:r>
              <a:rPr lang="uk-UA" sz="2200" dirty="0" err="1"/>
              <a:t>попапі</a:t>
            </a:r>
            <a:r>
              <a:rPr lang="uk-UA" sz="2200" dirty="0"/>
              <a:t> та додавання/видалення користувачів у список обраних.</a:t>
            </a:r>
          </a:p>
          <a:p>
            <a:r>
              <a:rPr lang="en-US" sz="2200" b="1" dirty="0" err="1"/>
              <a:t>FavoritesComponent</a:t>
            </a:r>
            <a:r>
              <a:rPr lang="en-US" sz="2200" b="1" dirty="0"/>
              <a:t>:</a:t>
            </a:r>
            <a:r>
              <a:rPr lang="en-US" sz="2200" dirty="0"/>
              <a:t> </a:t>
            </a:r>
            <a:r>
              <a:rPr lang="uk-UA" sz="2200" dirty="0"/>
              <a:t>Відображає список обраних користувачів, підписується на </a:t>
            </a:r>
            <a:r>
              <a:rPr lang="en-US" sz="2200" dirty="0" err="1"/>
              <a:t>BehaviorSubject</a:t>
            </a:r>
            <a:r>
              <a:rPr lang="en-US" sz="2200" dirty="0"/>
              <a:t> </a:t>
            </a:r>
            <a:r>
              <a:rPr lang="uk-UA" sz="2200" dirty="0"/>
              <a:t>з </a:t>
            </a:r>
            <a:r>
              <a:rPr lang="en-US" sz="2200" dirty="0" err="1"/>
              <a:t>UserService</a:t>
            </a:r>
            <a:r>
              <a:rPr lang="en-US" sz="2200" dirty="0"/>
              <a:t> </a:t>
            </a:r>
            <a:r>
              <a:rPr lang="uk-UA" sz="2200" dirty="0"/>
              <a:t>для автоматичного оновлення списку при зміні, забезпечує видалення користувачів зі списку обраних.</a:t>
            </a:r>
          </a:p>
          <a:p>
            <a:r>
              <a:rPr lang="en-US" sz="2200" b="1" dirty="0" err="1"/>
              <a:t>GenderChartComponent</a:t>
            </a:r>
            <a:r>
              <a:rPr lang="en-US" sz="2200" b="1" dirty="0"/>
              <a:t>:</a:t>
            </a:r>
            <a:r>
              <a:rPr lang="en-US" sz="2200" dirty="0"/>
              <a:t> </a:t>
            </a:r>
            <a:r>
              <a:rPr lang="uk-UA" sz="2200" dirty="0"/>
              <a:t>Візуалізує дані користувачів у вигляді діаграми за </a:t>
            </a:r>
            <a:r>
              <a:rPr lang="uk-UA" sz="2200" dirty="0" err="1"/>
              <a:t>гендером</a:t>
            </a:r>
            <a:r>
              <a:rPr lang="uk-UA" sz="2200" dirty="0"/>
              <a:t> (</a:t>
            </a:r>
            <a:r>
              <a:rPr lang="en-US" sz="2200" dirty="0"/>
              <a:t>male/female/other), </a:t>
            </a:r>
            <a:r>
              <a:rPr lang="uk-UA" sz="2200" dirty="0"/>
              <a:t>оновлює графік при зміні вхідних даних.</a:t>
            </a:r>
          </a:p>
          <a:p>
            <a:r>
              <a:rPr lang="en-US" sz="2200" b="1" dirty="0" err="1"/>
              <a:t>UserService</a:t>
            </a:r>
            <a:r>
              <a:rPr lang="en-US" sz="2200" b="1" dirty="0"/>
              <a:t>:</a:t>
            </a:r>
            <a:r>
              <a:rPr lang="en-US" sz="2200" dirty="0"/>
              <a:t> </a:t>
            </a:r>
            <a:r>
              <a:rPr lang="uk-UA" sz="2200" dirty="0"/>
              <a:t>Сервіс для роботи з користувачами. Містить методи для отримання користувачів з </a:t>
            </a:r>
            <a:r>
              <a:rPr lang="en-US" sz="2200" dirty="0"/>
              <a:t>API, </a:t>
            </a:r>
            <a:r>
              <a:rPr lang="uk-UA" sz="2200" dirty="0"/>
              <a:t>керування списком обраних користувачів (додавання, видалення, перевірка наявності), зберігає обраних користувачів у </a:t>
            </a:r>
            <a:r>
              <a:rPr lang="en-US" sz="2200" dirty="0" err="1"/>
              <a:t>localStorage</a:t>
            </a:r>
            <a:r>
              <a:rPr lang="en-US" sz="2200" dirty="0"/>
              <a:t> </a:t>
            </a:r>
            <a:r>
              <a:rPr lang="uk-UA" sz="2200" dirty="0"/>
              <a:t>та надає </a:t>
            </a:r>
            <a:r>
              <a:rPr lang="en-US" sz="2200" dirty="0" err="1"/>
              <a:t>BehaviorSubject</a:t>
            </a:r>
            <a:r>
              <a:rPr lang="en-US" sz="2200" dirty="0"/>
              <a:t> </a:t>
            </a:r>
            <a:r>
              <a:rPr lang="uk-UA" sz="2200" dirty="0"/>
              <a:t>для підписки компонентів.</a:t>
            </a:r>
          </a:p>
          <a:p>
            <a:r>
              <a:rPr lang="uk-UA" sz="2200" b="1" dirty="0"/>
              <a:t>Модель </a:t>
            </a:r>
            <a:r>
              <a:rPr lang="en-US" sz="2200" b="1" dirty="0"/>
              <a:t>User:</a:t>
            </a:r>
            <a:r>
              <a:rPr lang="en-US" sz="2200" dirty="0"/>
              <a:t> </a:t>
            </a:r>
            <a:r>
              <a:rPr lang="uk-UA" sz="2200" dirty="0"/>
              <a:t>Інтерфейс для опису користувача, включає унікальний </a:t>
            </a:r>
            <a:r>
              <a:rPr lang="en-US" sz="2200" dirty="0"/>
              <a:t>id, </a:t>
            </a:r>
            <a:r>
              <a:rPr lang="uk-UA" sz="2200" dirty="0"/>
              <a:t>ім’я, дату народження, адресу, контактні дані, фото, </a:t>
            </a:r>
            <a:r>
              <a:rPr lang="uk-UA" sz="2200" dirty="0" err="1"/>
              <a:t>гендер</a:t>
            </a:r>
            <a:r>
              <a:rPr lang="uk-UA" sz="2200" dirty="0"/>
              <a:t> та додаткові поля.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40792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13E72-9E2B-D054-6DF4-C89A27F61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Дизайн-</a:t>
            </a:r>
            <a:r>
              <a:rPr lang="uk-UA" dirty="0" err="1"/>
              <a:t>Патерни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DFE0CA5-3ED8-600C-A295-313CECBC4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13" y="1539026"/>
            <a:ext cx="9690159" cy="53189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uk-UA" dirty="0"/>
              <a:t>1. </a:t>
            </a:r>
            <a:r>
              <a:rPr lang="uk-UA" dirty="0" err="1"/>
              <a:t>Патерн</a:t>
            </a:r>
            <a:r>
              <a:rPr lang="uk-UA" dirty="0"/>
              <a:t>: </a:t>
            </a:r>
            <a:r>
              <a:rPr lang="en-US" dirty="0"/>
              <a:t>Singleton (</a:t>
            </a:r>
            <a:r>
              <a:rPr lang="uk-UA" dirty="0" err="1"/>
              <a:t>Породжувальний</a:t>
            </a:r>
            <a:r>
              <a:rPr lang="uk-UA" dirty="0"/>
              <a:t> </a:t>
            </a:r>
            <a:r>
              <a:rPr lang="uk-UA" dirty="0" err="1"/>
              <a:t>патерн</a:t>
            </a:r>
            <a:r>
              <a:rPr lang="uk-UA" dirty="0"/>
              <a:t>, </a:t>
            </a:r>
            <a:r>
              <a:rPr lang="en-US" dirty="0"/>
              <a:t>Creational)</a:t>
            </a:r>
            <a:endParaRPr lang="uk-UA" dirty="0"/>
          </a:p>
          <a:p>
            <a:r>
              <a:rPr lang="uk-UA" dirty="0"/>
              <a:t>Опис: Забезпечує, що клас має лише один екземпляр, та надає глобальну точку доступу.</a:t>
            </a:r>
          </a:p>
          <a:p>
            <a:r>
              <a:rPr lang="uk-UA" dirty="0"/>
              <a:t>Призначення: Централізоване керування станом і уникнення дублювання ресурсів (наприклад, підключення до </a:t>
            </a:r>
            <a:r>
              <a:rPr lang="en-US" dirty="0"/>
              <a:t>API </a:t>
            </a:r>
            <a:r>
              <a:rPr lang="uk-UA" dirty="0"/>
              <a:t>або локального сховища).</a:t>
            </a:r>
          </a:p>
          <a:p>
            <a:r>
              <a:rPr lang="uk-UA" dirty="0"/>
              <a:t>Що робить у програмі: </a:t>
            </a:r>
            <a:r>
              <a:rPr lang="en-US" dirty="0" err="1"/>
              <a:t>UserService</a:t>
            </a:r>
            <a:r>
              <a:rPr lang="en-US" dirty="0"/>
              <a:t> </a:t>
            </a:r>
            <a:r>
              <a:rPr lang="uk-UA" dirty="0"/>
              <a:t>створюється </a:t>
            </a:r>
            <a:r>
              <a:rPr lang="en-US" dirty="0"/>
              <a:t>Angular </a:t>
            </a:r>
            <a:r>
              <a:rPr lang="uk-UA" dirty="0"/>
              <a:t>як єдиний сервіс для всього застосунку. Це гарантує, що всі компоненти працюють з однією і тією ж колекцією користувачів та улюблених.</a:t>
            </a:r>
          </a:p>
          <a:p>
            <a:r>
              <a:rPr lang="uk-UA" dirty="0"/>
              <a:t>Приклад коду:</a:t>
            </a:r>
          </a:p>
          <a:p>
            <a:pPr marL="0" indent="0">
              <a:buNone/>
            </a:pPr>
            <a:r>
              <a:rPr lang="en-US" dirty="0"/>
              <a:t>@Injectable({ </a:t>
            </a:r>
            <a:r>
              <a:rPr lang="en-US" dirty="0" err="1"/>
              <a:t>providedIn</a:t>
            </a:r>
            <a:r>
              <a:rPr lang="en-US" dirty="0"/>
              <a:t>: 'root' })</a:t>
            </a:r>
          </a:p>
          <a:p>
            <a:pPr marL="0" indent="0">
              <a:buNone/>
            </a:pPr>
            <a:r>
              <a:rPr lang="en-US" dirty="0"/>
              <a:t>export class </a:t>
            </a:r>
            <a:r>
              <a:rPr lang="en-US" dirty="0" err="1"/>
              <a:t>UserService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private </a:t>
            </a:r>
            <a:r>
              <a:rPr lang="en-US" dirty="0" err="1"/>
              <a:t>favoritesSubject</a:t>
            </a:r>
            <a:r>
              <a:rPr lang="en-US" dirty="0"/>
              <a:t> = new </a:t>
            </a:r>
            <a:r>
              <a:rPr lang="en-US" dirty="0" err="1"/>
              <a:t>BehaviorSubject</a:t>
            </a:r>
            <a:r>
              <a:rPr lang="en-US" dirty="0"/>
              <a:t>&lt;User[]&gt;(</a:t>
            </a:r>
            <a:r>
              <a:rPr lang="en-US" dirty="0" err="1"/>
              <a:t>this.loadFavorites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private </a:t>
            </a:r>
            <a:r>
              <a:rPr lang="en-US" dirty="0" err="1"/>
              <a:t>usersSubject</a:t>
            </a:r>
            <a:r>
              <a:rPr lang="en-US" dirty="0"/>
              <a:t> = new </a:t>
            </a:r>
            <a:r>
              <a:rPr lang="en-US" dirty="0" err="1"/>
              <a:t>BehaviorSubject</a:t>
            </a:r>
            <a:r>
              <a:rPr lang="en-US" dirty="0"/>
              <a:t>&lt;User[]&gt;([]);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  </a:t>
            </a:r>
            <a:r>
              <a:rPr lang="en-US" dirty="0"/>
              <a:t>// </a:t>
            </a:r>
            <a:r>
              <a:rPr lang="uk-UA" dirty="0"/>
              <a:t>Єдиний екземпляр сервісу для всього застосунку</a:t>
            </a:r>
          </a:p>
          <a:p>
            <a:pPr marL="0" indent="0">
              <a:buNone/>
            </a:pPr>
            <a:r>
              <a:rPr lang="uk-UA" dirty="0"/>
              <a:t>  }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71987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8CC251A-1F6D-F988-D355-519F3B48B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755" y="154545"/>
            <a:ext cx="4293913" cy="71220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1900" dirty="0">
                <a:cs typeface="Times New Roman" panose="02020603050405020304" pitchFamily="18" charset="0"/>
              </a:rPr>
              <a:t>2. </a:t>
            </a:r>
            <a:r>
              <a:rPr lang="uk-UA" sz="1900" dirty="0" err="1">
                <a:cs typeface="Times New Roman" panose="02020603050405020304" pitchFamily="18" charset="0"/>
              </a:rPr>
              <a:t>Патерн</a:t>
            </a:r>
            <a:r>
              <a:rPr lang="uk-UA" sz="1900" dirty="0">
                <a:cs typeface="Times New Roman" panose="02020603050405020304" pitchFamily="18" charset="0"/>
              </a:rPr>
              <a:t>: </a:t>
            </a:r>
            <a:r>
              <a:rPr lang="en-US" sz="1900" dirty="0">
                <a:cs typeface="Times New Roman" panose="02020603050405020304" pitchFamily="18" charset="0"/>
              </a:rPr>
              <a:t>Repository (</a:t>
            </a:r>
            <a:r>
              <a:rPr lang="uk-UA" sz="1900" dirty="0">
                <a:cs typeface="Times New Roman" panose="02020603050405020304" pitchFamily="18" charset="0"/>
              </a:rPr>
              <a:t>Структурний / </a:t>
            </a:r>
            <a:r>
              <a:rPr lang="en-US" sz="1900" dirty="0">
                <a:cs typeface="Times New Roman" panose="02020603050405020304" pitchFamily="18" charset="0"/>
              </a:rPr>
              <a:t>Behavioral)</a:t>
            </a:r>
            <a:endParaRPr lang="uk-UA" sz="1900" dirty="0">
              <a:cs typeface="Times New Roman" panose="02020603050405020304" pitchFamily="18" charset="0"/>
            </a:endParaRPr>
          </a:p>
          <a:p>
            <a:r>
              <a:rPr lang="uk-UA" sz="1900" dirty="0">
                <a:cs typeface="Times New Roman" panose="02020603050405020304" pitchFamily="18" charset="0"/>
              </a:rPr>
              <a:t>Опис: Абстрагує доступ до джерела даних і перетворює сирі дані в об’єкти доменної моделі.</a:t>
            </a:r>
          </a:p>
          <a:p>
            <a:r>
              <a:rPr lang="uk-UA" sz="1900" dirty="0">
                <a:cs typeface="Times New Roman" panose="02020603050405020304" pitchFamily="18" charset="0"/>
              </a:rPr>
              <a:t>Призначення: Відокремлення логіки отримання даних (</a:t>
            </a:r>
            <a:r>
              <a:rPr lang="en-US" sz="1900" dirty="0">
                <a:cs typeface="Times New Roman" panose="02020603050405020304" pitchFamily="18" charset="0"/>
              </a:rPr>
              <a:t>API, </a:t>
            </a:r>
            <a:r>
              <a:rPr lang="uk-UA" sz="1900" dirty="0">
                <a:cs typeface="Times New Roman" panose="02020603050405020304" pitchFamily="18" charset="0"/>
              </a:rPr>
              <a:t>локальне сховище) від компонентів і централізоване управління станом.</a:t>
            </a:r>
          </a:p>
          <a:p>
            <a:r>
              <a:rPr lang="uk-UA" sz="1900" dirty="0">
                <a:cs typeface="Times New Roman" panose="02020603050405020304" pitchFamily="18" charset="0"/>
              </a:rPr>
              <a:t>Що робить у програмі: </a:t>
            </a:r>
            <a:r>
              <a:rPr lang="en-US" sz="1900" dirty="0" err="1">
                <a:cs typeface="Times New Roman" panose="02020603050405020304" pitchFamily="18" charset="0"/>
              </a:rPr>
              <a:t>UserService</a:t>
            </a:r>
            <a:r>
              <a:rPr lang="en-US" sz="1900" dirty="0">
                <a:cs typeface="Times New Roman" panose="02020603050405020304" pitchFamily="18" charset="0"/>
              </a:rPr>
              <a:t> </a:t>
            </a:r>
            <a:r>
              <a:rPr lang="uk-UA" sz="1900" dirty="0">
                <a:cs typeface="Times New Roman" panose="02020603050405020304" pitchFamily="18" charset="0"/>
              </a:rPr>
              <a:t>отримує дані з </a:t>
            </a:r>
            <a:r>
              <a:rPr lang="en-US" sz="1900" dirty="0">
                <a:cs typeface="Times New Roman" panose="02020603050405020304" pitchFamily="18" charset="0"/>
              </a:rPr>
              <a:t>API (</a:t>
            </a:r>
            <a:r>
              <a:rPr lang="en-US" sz="1900" dirty="0" err="1">
                <a:cs typeface="Times New Roman" panose="02020603050405020304" pitchFamily="18" charset="0"/>
              </a:rPr>
              <a:t>fetchUsers</a:t>
            </a:r>
            <a:r>
              <a:rPr lang="en-US" sz="1900" dirty="0">
                <a:cs typeface="Times New Roman" panose="02020603050405020304" pitchFamily="18" charset="0"/>
              </a:rPr>
              <a:t>) </a:t>
            </a:r>
            <a:r>
              <a:rPr lang="uk-UA" sz="1900" dirty="0">
                <a:cs typeface="Times New Roman" panose="02020603050405020304" pitchFamily="18" charset="0"/>
              </a:rPr>
              <a:t>або локального сховища (</a:t>
            </a:r>
            <a:r>
              <a:rPr lang="en-US" sz="1900" dirty="0">
                <a:cs typeface="Times New Roman" panose="02020603050405020304" pitchFamily="18" charset="0"/>
              </a:rPr>
              <a:t>favorites) </a:t>
            </a:r>
            <a:r>
              <a:rPr lang="uk-UA" sz="1900" dirty="0">
                <a:cs typeface="Times New Roman" panose="02020603050405020304" pitchFamily="18" charset="0"/>
              </a:rPr>
              <a:t>і приводить їх до стандартної моделі </a:t>
            </a:r>
            <a:r>
              <a:rPr lang="en-US" sz="1900" dirty="0">
                <a:cs typeface="Times New Roman" panose="02020603050405020304" pitchFamily="18" charset="0"/>
              </a:rPr>
              <a:t>User. </a:t>
            </a:r>
            <a:r>
              <a:rPr lang="uk-UA" sz="1900" dirty="0">
                <a:cs typeface="Times New Roman" panose="02020603050405020304" pitchFamily="18" charset="0"/>
              </a:rPr>
              <a:t>Компоненти працюють лише з доменною моделлю, не турбуючись про формат </a:t>
            </a:r>
            <a:r>
              <a:rPr lang="en-US" sz="1900" dirty="0">
                <a:cs typeface="Times New Roman" panose="02020603050405020304" pitchFamily="18" charset="0"/>
              </a:rPr>
              <a:t>API.</a:t>
            </a:r>
            <a:endParaRPr lang="uk-UA" sz="1900" dirty="0"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A37E43-D5EB-4E54-946D-F5A620686135}"/>
              </a:ext>
            </a:extLst>
          </p:cNvPr>
          <p:cNvSpPr txBox="1"/>
          <p:nvPr/>
        </p:nvSpPr>
        <p:spPr>
          <a:xfrm>
            <a:off x="5048519" y="154545"/>
            <a:ext cx="4121239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uk-UA" dirty="0">
                <a:cs typeface="Times New Roman" panose="02020603050405020304" pitchFamily="18" charset="0"/>
              </a:rPr>
              <a:t>Приклад коду :</a:t>
            </a:r>
            <a:br>
              <a:rPr lang="uk-UA" sz="1600" dirty="0">
                <a:cs typeface="Times New Roman" panose="02020603050405020304" pitchFamily="18" charset="0"/>
              </a:rPr>
            </a:br>
            <a:r>
              <a:rPr lang="uk-UA" sz="1600" dirty="0">
                <a:cs typeface="Times New Roman" panose="02020603050405020304" pitchFamily="18" charset="0"/>
              </a:rPr>
              <a:t>// --- Приклад коду (частина </a:t>
            </a:r>
            <a:r>
              <a:rPr lang="en-US" sz="1600" dirty="0">
                <a:cs typeface="Times New Roman" panose="02020603050405020304" pitchFamily="18" charset="0"/>
              </a:rPr>
              <a:t>Repository: </a:t>
            </a:r>
            <a:r>
              <a:rPr lang="uk-UA" sz="1600" dirty="0">
                <a:cs typeface="Times New Roman" panose="02020603050405020304" pitchFamily="18" charset="0"/>
              </a:rPr>
              <a:t>доступ до зовнішнього </a:t>
            </a:r>
            <a:r>
              <a:rPr lang="en-US" sz="1600" dirty="0">
                <a:cs typeface="Times New Roman" panose="02020603050405020304" pitchFamily="18" charset="0"/>
              </a:rPr>
              <a:t>API) ---</a:t>
            </a:r>
          </a:p>
          <a:p>
            <a:pPr marL="0" indent="0">
              <a:buNone/>
            </a:pPr>
            <a:r>
              <a:rPr lang="en-US" sz="1600" dirty="0">
                <a:cs typeface="Times New Roman" panose="02020603050405020304" pitchFamily="18" charset="0"/>
              </a:rPr>
              <a:t>async </a:t>
            </a:r>
            <a:r>
              <a:rPr lang="en-US" sz="1600" dirty="0" err="1">
                <a:cs typeface="Times New Roman" panose="02020603050405020304" pitchFamily="18" charset="0"/>
              </a:rPr>
              <a:t>fetchUsers</a:t>
            </a:r>
            <a:r>
              <a:rPr lang="en-US" sz="1600" dirty="0">
                <a:cs typeface="Times New Roman" panose="02020603050405020304" pitchFamily="18" charset="0"/>
              </a:rPr>
              <a:t>(count = 20): Promise&lt;User[]&gt; {</a:t>
            </a:r>
          </a:p>
          <a:p>
            <a:pPr marL="0" indent="0">
              <a:buNone/>
            </a:pPr>
            <a:r>
              <a:rPr lang="en-US" sz="1600" dirty="0">
                <a:cs typeface="Times New Roman" panose="02020603050405020304" pitchFamily="18" charset="0"/>
              </a:rPr>
              <a:t>  // </a:t>
            </a:r>
            <a:r>
              <a:rPr lang="uk-UA" sz="1600" dirty="0">
                <a:cs typeface="Times New Roman" panose="02020603050405020304" pitchFamily="18" charset="0"/>
              </a:rPr>
              <a:t>Тут </a:t>
            </a:r>
            <a:r>
              <a:rPr lang="uk-UA" sz="1600" dirty="0" err="1">
                <a:cs typeface="Times New Roman" panose="02020603050405020304" pitchFamily="18" charset="0"/>
              </a:rPr>
              <a:t>інкапсульовано</a:t>
            </a:r>
            <a:r>
              <a:rPr lang="uk-UA" sz="1600" dirty="0">
                <a:cs typeface="Times New Roman" panose="02020603050405020304" pitchFamily="18" charset="0"/>
              </a:rPr>
              <a:t> роботу з зовнішнім джерелом даних (</a:t>
            </a:r>
            <a:r>
              <a:rPr lang="en-US" sz="1600" dirty="0" err="1">
                <a:cs typeface="Times New Roman" panose="02020603050405020304" pitchFamily="18" charset="0"/>
              </a:rPr>
              <a:t>axios</a:t>
            </a:r>
            <a:r>
              <a:rPr lang="en-US" sz="1600" dirty="0"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uk-UA" sz="1600" dirty="0">
                <a:cs typeface="Times New Roman" panose="02020603050405020304" pitchFamily="18" charset="0"/>
              </a:rPr>
              <a:t>	</a:t>
            </a:r>
            <a:r>
              <a:rPr lang="en-US" sz="1600" dirty="0">
                <a:cs typeface="Times New Roman" panose="02020603050405020304" pitchFamily="18" charset="0"/>
              </a:rPr>
              <a:t>const res = await </a:t>
            </a:r>
            <a:r>
              <a:rPr lang="en-US" sz="1600" dirty="0" err="1">
                <a:cs typeface="Times New Roman" panose="02020603050405020304" pitchFamily="18" charset="0"/>
              </a:rPr>
              <a:t>axios.get</a:t>
            </a:r>
            <a:r>
              <a:rPr lang="en-US" sz="1600" dirty="0"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cs typeface="Times New Roman" panose="02020603050405020304" pitchFamily="18" charset="0"/>
              </a:rPr>
              <a:t>this.apiUrl</a:t>
            </a:r>
            <a:r>
              <a:rPr lang="en-US" sz="1600" dirty="0">
                <a:cs typeface="Times New Roman" panose="02020603050405020304" pitchFamily="18" charset="0"/>
              </a:rPr>
              <a:t>, { params: { results: count } }); </a:t>
            </a:r>
          </a:p>
          <a:p>
            <a:pPr marL="0" indent="0">
              <a:buNone/>
            </a:pPr>
            <a:r>
              <a:rPr lang="uk-UA" sz="1600" dirty="0">
                <a:cs typeface="Times New Roman" panose="02020603050405020304" pitchFamily="18" charset="0"/>
              </a:rPr>
              <a:t>	</a:t>
            </a:r>
            <a:r>
              <a:rPr lang="en-US" sz="1600" dirty="0">
                <a:cs typeface="Times New Roman" panose="02020603050405020304" pitchFamily="18" charset="0"/>
              </a:rPr>
              <a:t>const users = </a:t>
            </a:r>
            <a:r>
              <a:rPr lang="en-US" sz="1600" dirty="0" err="1">
                <a:cs typeface="Times New Roman" panose="02020603050405020304" pitchFamily="18" charset="0"/>
              </a:rPr>
              <a:t>this.mapApiUsers</a:t>
            </a:r>
            <a:r>
              <a:rPr lang="en-US" sz="1600" dirty="0"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cs typeface="Times New Roman" panose="02020603050405020304" pitchFamily="18" charset="0"/>
              </a:rPr>
              <a:t>res.data.results</a:t>
            </a:r>
            <a:r>
              <a:rPr lang="en-US" sz="1600" dirty="0">
                <a:cs typeface="Times New Roman" panose="02020603050405020304" pitchFamily="18" charset="0"/>
              </a:rPr>
              <a:t>);</a:t>
            </a:r>
            <a:endParaRPr lang="uk-UA" sz="16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cs typeface="Times New Roman" panose="02020603050405020304" pitchFamily="18" charset="0"/>
              </a:rPr>
              <a:t>  </a:t>
            </a:r>
            <a:r>
              <a:rPr lang="uk-UA" sz="1600" dirty="0">
                <a:cs typeface="Times New Roman" panose="02020603050405020304" pitchFamily="18" charset="0"/>
              </a:rPr>
              <a:t>	</a:t>
            </a:r>
            <a:r>
              <a:rPr lang="en-US" sz="1600" dirty="0">
                <a:cs typeface="Times New Roman" panose="02020603050405020304" pitchFamily="18" charset="0"/>
              </a:rPr>
              <a:t>// ...</a:t>
            </a:r>
          </a:p>
          <a:p>
            <a:pPr marL="0" indent="0">
              <a:buNone/>
            </a:pPr>
            <a:r>
              <a:rPr lang="uk-UA" sz="1600" dirty="0">
                <a:cs typeface="Times New Roman" panose="02020603050405020304" pitchFamily="18" charset="0"/>
              </a:rPr>
              <a:t>	</a:t>
            </a:r>
            <a:r>
              <a:rPr lang="en-US" sz="1600" dirty="0">
                <a:cs typeface="Times New Roman" panose="02020603050405020304" pitchFamily="18" charset="0"/>
              </a:rPr>
              <a:t>}</a:t>
            </a:r>
            <a:endParaRPr lang="uk-UA" sz="16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uk-UA" sz="1600" dirty="0">
                <a:cs typeface="Times New Roman" panose="02020603050405020304" pitchFamily="18" charset="0"/>
              </a:rPr>
              <a:t>	</a:t>
            </a:r>
            <a:r>
              <a:rPr lang="en-US" sz="1600" dirty="0">
                <a:cs typeface="Times New Roman" panose="02020603050405020304" pitchFamily="18" charset="0"/>
              </a:rPr>
              <a:t>// --- </a:t>
            </a:r>
            <a:r>
              <a:rPr lang="uk-UA" sz="1600" dirty="0">
                <a:cs typeface="Times New Roman" panose="02020603050405020304" pitchFamily="18" charset="0"/>
              </a:rPr>
              <a:t>Приклад коду (частина </a:t>
            </a:r>
            <a:r>
              <a:rPr lang="en-US" sz="1600" dirty="0">
                <a:cs typeface="Times New Roman" panose="02020603050405020304" pitchFamily="18" charset="0"/>
              </a:rPr>
              <a:t>Repository: </a:t>
            </a:r>
            <a:r>
              <a:rPr lang="uk-UA" sz="1600" dirty="0">
                <a:cs typeface="Times New Roman" panose="02020603050405020304" pitchFamily="18" charset="0"/>
              </a:rPr>
              <a:t>доступ до локального сховища) ---</a:t>
            </a:r>
          </a:p>
          <a:p>
            <a:pPr marL="0" indent="0">
              <a:buNone/>
            </a:pPr>
            <a:r>
              <a:rPr lang="uk-UA" sz="1600" dirty="0">
                <a:cs typeface="Times New Roman" panose="02020603050405020304" pitchFamily="18" charset="0"/>
              </a:rPr>
              <a:t>	</a:t>
            </a:r>
            <a:r>
              <a:rPr lang="en-US" sz="1600" dirty="0">
                <a:cs typeface="Times New Roman" panose="02020603050405020304" pitchFamily="18" charset="0"/>
              </a:rPr>
              <a:t>private </a:t>
            </a:r>
            <a:r>
              <a:rPr lang="en-US" sz="1600" dirty="0" err="1">
                <a:cs typeface="Times New Roman" panose="02020603050405020304" pitchFamily="18" charset="0"/>
              </a:rPr>
              <a:t>saveFavorites</a:t>
            </a:r>
            <a:r>
              <a:rPr lang="en-US" sz="1600" dirty="0">
                <a:cs typeface="Times New Roman" panose="02020603050405020304" pitchFamily="18" charset="0"/>
              </a:rPr>
              <a:t>(list: User[]) {</a:t>
            </a:r>
          </a:p>
          <a:p>
            <a:pPr marL="0" indent="0">
              <a:buNone/>
            </a:pPr>
            <a:r>
              <a:rPr lang="en-US" sz="1600" dirty="0">
                <a:cs typeface="Times New Roman" panose="02020603050405020304" pitchFamily="18" charset="0"/>
              </a:rPr>
              <a:t> </a:t>
            </a:r>
            <a:r>
              <a:rPr lang="uk-UA" sz="1600" dirty="0">
                <a:cs typeface="Times New Roman" panose="02020603050405020304" pitchFamily="18" charset="0"/>
              </a:rPr>
              <a:t>	</a:t>
            </a:r>
            <a:r>
              <a:rPr lang="en-US" sz="1600" dirty="0">
                <a:cs typeface="Times New Roman" panose="02020603050405020304" pitchFamily="18" charset="0"/>
              </a:rPr>
              <a:t>// </a:t>
            </a:r>
            <a:r>
              <a:rPr lang="uk-UA" sz="1600" dirty="0">
                <a:cs typeface="Times New Roman" panose="02020603050405020304" pitchFamily="18" charset="0"/>
              </a:rPr>
              <a:t>Тут </a:t>
            </a:r>
            <a:r>
              <a:rPr lang="uk-UA" sz="1600" dirty="0" err="1">
                <a:cs typeface="Times New Roman" panose="02020603050405020304" pitchFamily="18" charset="0"/>
              </a:rPr>
              <a:t>інкапсульовано</a:t>
            </a:r>
            <a:r>
              <a:rPr lang="uk-UA" sz="1600" dirty="0">
                <a:cs typeface="Times New Roman" panose="02020603050405020304" pitchFamily="18" charset="0"/>
              </a:rPr>
              <a:t> роботу з локальним сховищем</a:t>
            </a:r>
          </a:p>
          <a:p>
            <a:pPr marL="0" indent="0">
              <a:buNone/>
            </a:pPr>
            <a:r>
              <a:rPr lang="uk-UA" sz="1600" dirty="0"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cs typeface="Times New Roman" panose="02020603050405020304" pitchFamily="18" charset="0"/>
              </a:rPr>
              <a:t>localStorage.setItem</a:t>
            </a:r>
            <a:r>
              <a:rPr lang="en-US" sz="1600" dirty="0">
                <a:cs typeface="Times New Roman" panose="02020603050405020304" pitchFamily="18" charset="0"/>
              </a:rPr>
              <a:t>('favorites', </a:t>
            </a:r>
            <a:r>
              <a:rPr lang="en-US" sz="1600" dirty="0" err="1">
                <a:cs typeface="Times New Roman" panose="02020603050405020304" pitchFamily="18" charset="0"/>
              </a:rPr>
              <a:t>JSON.stringify</a:t>
            </a:r>
            <a:r>
              <a:rPr lang="en-US" sz="1600" dirty="0">
                <a:cs typeface="Times New Roman" panose="02020603050405020304" pitchFamily="18" charset="0"/>
              </a:rPr>
              <a:t>(list)); </a:t>
            </a:r>
          </a:p>
          <a:p>
            <a:pPr marL="0" indent="0">
              <a:buNone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uk-U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731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DB70EFA-DC51-9B96-B75E-9BD1D5ECB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51" y="218941"/>
            <a:ext cx="4229518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3</a:t>
            </a:r>
            <a:r>
              <a:rPr lang="uk-UA" sz="2000" dirty="0"/>
              <a:t>. </a:t>
            </a:r>
            <a:r>
              <a:rPr lang="uk-UA" sz="2000" dirty="0" err="1"/>
              <a:t>Патерн</a:t>
            </a:r>
            <a:r>
              <a:rPr lang="uk-UA" sz="2000" dirty="0"/>
              <a:t>: </a:t>
            </a:r>
            <a:r>
              <a:rPr lang="en-US" sz="2000" dirty="0"/>
              <a:t>Data Mapper (Behavioral / Structural)</a:t>
            </a:r>
            <a:endParaRPr lang="uk-UA" sz="2000" dirty="0"/>
          </a:p>
          <a:p>
            <a:r>
              <a:rPr lang="uk-UA" sz="2000" dirty="0"/>
              <a:t>Опис: Перетворює дані з однієї структури (</a:t>
            </a:r>
            <a:r>
              <a:rPr lang="en-US" sz="2000" dirty="0"/>
              <a:t>API) </a:t>
            </a:r>
            <a:r>
              <a:rPr lang="uk-UA" sz="2000" dirty="0"/>
              <a:t>у потрібну програмі структуру (модель).</a:t>
            </a:r>
          </a:p>
          <a:p>
            <a:r>
              <a:rPr lang="uk-UA" sz="2000" dirty="0"/>
              <a:t>Призначення: Відокремлення логіки трансформації даних, щоб компоненти працювали тільки з внутрішніми моделями.</a:t>
            </a:r>
          </a:p>
          <a:p>
            <a:r>
              <a:rPr lang="uk-UA" sz="2000" dirty="0"/>
              <a:t>Що робить у програмі: Метод </a:t>
            </a:r>
            <a:r>
              <a:rPr lang="en-US" sz="2000" dirty="0" err="1"/>
              <a:t>mapApiUsers</a:t>
            </a:r>
            <a:r>
              <a:rPr lang="en-US" sz="2000" dirty="0"/>
              <a:t> </a:t>
            </a:r>
            <a:r>
              <a:rPr lang="uk-UA" sz="2000" dirty="0"/>
              <a:t>перетворює сирий об’єкт від </a:t>
            </a:r>
            <a:r>
              <a:rPr lang="en-US" sz="2000" dirty="0"/>
              <a:t>randomuser.me </a:t>
            </a:r>
            <a:r>
              <a:rPr lang="uk-UA" sz="2000" dirty="0"/>
              <a:t>у стандартну модель </a:t>
            </a:r>
            <a:r>
              <a:rPr lang="en-US" sz="2000" dirty="0"/>
              <a:t>User.</a:t>
            </a:r>
            <a:endParaRPr lang="uk-UA" sz="2000" dirty="0"/>
          </a:p>
          <a:p>
            <a:endParaRPr lang="uk-UA" sz="1600" dirty="0"/>
          </a:p>
          <a:p>
            <a:endParaRPr lang="uk-UA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71ED9-3498-4846-9178-04D2B415823F}"/>
              </a:ext>
            </a:extLst>
          </p:cNvPr>
          <p:cNvSpPr txBox="1"/>
          <p:nvPr/>
        </p:nvSpPr>
        <p:spPr>
          <a:xfrm>
            <a:off x="5434884" y="218941"/>
            <a:ext cx="376063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uk-UA" dirty="0"/>
              <a:t>Приклад коду:</a:t>
            </a:r>
          </a:p>
          <a:p>
            <a:pPr marL="0" indent="0">
              <a:buNone/>
            </a:pPr>
            <a:r>
              <a:rPr lang="en-US" sz="1600" dirty="0"/>
              <a:t>private </a:t>
            </a:r>
            <a:r>
              <a:rPr lang="en-US" sz="1600" dirty="0" err="1"/>
              <a:t>mapApiUsers</a:t>
            </a:r>
            <a:r>
              <a:rPr lang="en-US" sz="1600" dirty="0"/>
              <a:t>(</a:t>
            </a:r>
            <a:r>
              <a:rPr lang="en-US" sz="1600" dirty="0" err="1"/>
              <a:t>apiUsers</a:t>
            </a:r>
            <a:r>
              <a:rPr lang="en-US" sz="1600" dirty="0"/>
              <a:t>: any[]): User[] {</a:t>
            </a:r>
          </a:p>
          <a:p>
            <a:pPr marL="0" indent="0">
              <a:buNone/>
            </a:pPr>
            <a:r>
              <a:rPr lang="en-US" sz="1600" dirty="0"/>
              <a:t>  return </a:t>
            </a:r>
            <a:r>
              <a:rPr lang="en-US" sz="1600" dirty="0" err="1"/>
              <a:t>apiUsers.map</a:t>
            </a:r>
            <a:r>
              <a:rPr lang="en-US" sz="1600" dirty="0"/>
              <a:t>((u: any) =&gt; ({</a:t>
            </a:r>
          </a:p>
          <a:p>
            <a:pPr marL="0" indent="0">
              <a:buNone/>
            </a:pPr>
            <a:r>
              <a:rPr lang="en-US" sz="1600" dirty="0"/>
              <a:t>    id: </a:t>
            </a:r>
            <a:r>
              <a:rPr lang="en-US" sz="1600" dirty="0" err="1"/>
              <a:t>u.login.uuid</a:t>
            </a:r>
            <a:r>
              <a:rPr lang="en-US" sz="1600" dirty="0"/>
              <a:t>,</a:t>
            </a:r>
          </a:p>
          <a:p>
            <a:pPr marL="0" indent="0">
              <a:buNone/>
            </a:pPr>
            <a:r>
              <a:rPr lang="en-US" sz="1600" dirty="0"/>
              <a:t>    name: u.name,</a:t>
            </a:r>
          </a:p>
          <a:p>
            <a:pPr marL="0" indent="0">
              <a:buNone/>
            </a:pPr>
            <a:r>
              <a:rPr lang="en-US" sz="1600" dirty="0"/>
              <a:t>   dob: </a:t>
            </a:r>
            <a:r>
              <a:rPr lang="en-US" sz="1600" dirty="0" err="1"/>
              <a:t>u.dob</a:t>
            </a:r>
            <a:r>
              <a:rPr lang="en-US" sz="1600" dirty="0"/>
              <a:t>,</a:t>
            </a:r>
          </a:p>
          <a:p>
            <a:pPr marL="0" indent="0">
              <a:buNone/>
            </a:pPr>
            <a:r>
              <a:rPr lang="en-US" sz="1600" dirty="0"/>
              <a:t>   location: </a:t>
            </a:r>
            <a:r>
              <a:rPr lang="en-US" sz="1600" dirty="0" err="1"/>
              <a:t>u.location</a:t>
            </a:r>
            <a:r>
              <a:rPr lang="en-US" sz="1600" dirty="0"/>
              <a:t>,</a:t>
            </a:r>
          </a:p>
          <a:p>
            <a:pPr marL="0" indent="0">
              <a:buNone/>
            </a:pPr>
            <a:r>
              <a:rPr lang="en-US" sz="1600" dirty="0"/>
              <a:t> email: </a:t>
            </a:r>
            <a:r>
              <a:rPr lang="en-US" sz="1600" dirty="0" err="1"/>
              <a:t>u.email</a:t>
            </a:r>
            <a:r>
              <a:rPr lang="en-US" sz="1600" dirty="0"/>
              <a:t>,</a:t>
            </a:r>
          </a:p>
          <a:p>
            <a:pPr marL="0" indent="0">
              <a:buNone/>
            </a:pPr>
            <a:r>
              <a:rPr lang="en-US" sz="1600" dirty="0"/>
              <a:t>  phone: </a:t>
            </a:r>
            <a:r>
              <a:rPr lang="en-US" sz="1600" dirty="0" err="1"/>
              <a:t>u.phone</a:t>
            </a:r>
            <a:r>
              <a:rPr lang="en-US" sz="1600" dirty="0"/>
              <a:t>,</a:t>
            </a:r>
          </a:p>
          <a:p>
            <a:pPr marL="0" indent="0">
              <a:buNone/>
            </a:pPr>
            <a:r>
              <a:rPr lang="en-US" sz="1600" dirty="0"/>
              <a:t>  cell: </a:t>
            </a:r>
            <a:r>
              <a:rPr lang="en-US" sz="1600" dirty="0" err="1"/>
              <a:t>u.cell</a:t>
            </a:r>
            <a:r>
              <a:rPr lang="en-US" sz="1600" dirty="0"/>
              <a:t>,</a:t>
            </a:r>
            <a:endParaRPr lang="uk-UA" sz="1600" dirty="0"/>
          </a:p>
          <a:p>
            <a:pPr marL="0" indent="0">
              <a:buNone/>
            </a:pPr>
            <a:r>
              <a:rPr lang="en-US" sz="1600" dirty="0"/>
              <a:t>   picture: </a:t>
            </a:r>
            <a:r>
              <a:rPr lang="en-US" sz="1600" dirty="0" err="1"/>
              <a:t>u.picture</a:t>
            </a:r>
            <a:r>
              <a:rPr lang="en-US" sz="1600" dirty="0"/>
              <a:t>,</a:t>
            </a:r>
          </a:p>
          <a:p>
            <a:pPr marL="0" indent="0">
              <a:buNone/>
            </a:pPr>
            <a:r>
              <a:rPr lang="en-US" sz="1600" dirty="0"/>
              <a:t>   gender: </a:t>
            </a:r>
            <a:r>
              <a:rPr lang="en-US" sz="1600" dirty="0" err="1"/>
              <a:t>u.gender</a:t>
            </a:r>
            <a:r>
              <a:rPr lang="en-US" sz="1600" dirty="0"/>
              <a:t>,</a:t>
            </a:r>
          </a:p>
          <a:p>
            <a:pPr marL="0" indent="0">
              <a:buNone/>
            </a:pPr>
            <a:r>
              <a:rPr lang="en-US" sz="1600" dirty="0"/>
              <a:t>   ...u</a:t>
            </a:r>
            <a:endParaRPr lang="uk-UA" sz="1600" dirty="0"/>
          </a:p>
          <a:p>
            <a:pPr marL="0" indent="0">
              <a:buNone/>
            </a:pPr>
            <a:r>
              <a:rPr lang="en-US" sz="1600" dirty="0"/>
              <a:t>  }));</a:t>
            </a:r>
            <a:endParaRPr lang="uk-UA" sz="1600" dirty="0"/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7966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D9F6469-43FC-13DC-F666-7FA8F5406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196" y="299286"/>
            <a:ext cx="4872506" cy="6259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4. </a:t>
            </a:r>
            <a:r>
              <a:rPr lang="uk-UA" dirty="0" err="1"/>
              <a:t>Патерн</a:t>
            </a:r>
            <a:r>
              <a:rPr lang="uk-UA" dirty="0"/>
              <a:t>: </a:t>
            </a:r>
            <a:r>
              <a:rPr lang="en-US" dirty="0"/>
              <a:t>Command (Behavioral)</a:t>
            </a:r>
            <a:endParaRPr lang="uk-UA" dirty="0"/>
          </a:p>
          <a:p>
            <a:r>
              <a:rPr lang="uk-UA" dirty="0"/>
              <a:t>Опис: </a:t>
            </a:r>
            <a:r>
              <a:rPr lang="uk-UA" dirty="0" err="1"/>
              <a:t>Інкапсулює</a:t>
            </a:r>
            <a:r>
              <a:rPr lang="uk-UA" dirty="0"/>
              <a:t> запит у вигляді об’єкта, дозволяючи </a:t>
            </a:r>
            <a:r>
              <a:rPr lang="uk-UA" dirty="0" err="1"/>
              <a:t>параметризувати</a:t>
            </a:r>
            <a:r>
              <a:rPr lang="uk-UA" dirty="0"/>
              <a:t> дії та відкладати їх виконання.</a:t>
            </a:r>
          </a:p>
          <a:p>
            <a:r>
              <a:rPr lang="uk-UA" dirty="0"/>
              <a:t>Призначення: Відокремлює виклик операцій (додавання/видалення улюблених користувачів) від компонента, дозволяючи легко додавати нові команди, </a:t>
            </a:r>
            <a:r>
              <a:rPr lang="uk-UA" dirty="0" err="1"/>
              <a:t>логувати</a:t>
            </a:r>
            <a:r>
              <a:rPr lang="uk-UA" dirty="0"/>
              <a:t> або відкладати їх.</a:t>
            </a:r>
          </a:p>
          <a:p>
            <a:r>
              <a:rPr lang="uk-UA" dirty="0"/>
              <a:t>Що робить у програмі: Методи </a:t>
            </a:r>
            <a:r>
              <a:rPr lang="en-US" dirty="0" err="1"/>
              <a:t>AddFavoriteCommand</a:t>
            </a:r>
            <a:r>
              <a:rPr lang="en-US" dirty="0"/>
              <a:t> </a:t>
            </a:r>
            <a:r>
              <a:rPr lang="uk-UA" dirty="0"/>
              <a:t>і </a:t>
            </a:r>
            <a:r>
              <a:rPr lang="en-US" dirty="0" err="1"/>
              <a:t>RemoveFavoriteCommand</a:t>
            </a:r>
            <a:r>
              <a:rPr lang="en-US" dirty="0"/>
              <a:t> </a:t>
            </a:r>
            <a:r>
              <a:rPr lang="uk-UA" dirty="0" err="1"/>
              <a:t>інкапсулюють</a:t>
            </a:r>
            <a:r>
              <a:rPr lang="uk-UA" dirty="0"/>
              <a:t> логіку додавання/видалення користувача з улюблених. </a:t>
            </a:r>
            <a:r>
              <a:rPr lang="en-US" dirty="0" err="1"/>
              <a:t>UsersTableComponent</a:t>
            </a:r>
            <a:r>
              <a:rPr lang="en-US" dirty="0"/>
              <a:t> </a:t>
            </a:r>
            <a:r>
              <a:rPr lang="uk-UA" dirty="0"/>
              <a:t>просто створює потрібну команду і виконує її через </a:t>
            </a:r>
            <a:r>
              <a:rPr lang="en-US" dirty="0" err="1"/>
              <a:t>command.execute</a:t>
            </a:r>
            <a:r>
              <a:rPr lang="en-US" dirty="0"/>
              <a:t>().</a:t>
            </a:r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E5439-7E35-41BE-A27F-ADB9A944223F}"/>
              </a:ext>
            </a:extLst>
          </p:cNvPr>
          <p:cNvSpPr txBox="1"/>
          <p:nvPr/>
        </p:nvSpPr>
        <p:spPr>
          <a:xfrm>
            <a:off x="5950039" y="296214"/>
            <a:ext cx="3245476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Приклад коду:</a:t>
            </a:r>
          </a:p>
          <a:p>
            <a:r>
              <a:rPr lang="uk-UA" sz="1200" dirty="0"/>
              <a:t>// --- Інтерфейс Команди (</a:t>
            </a:r>
            <a:r>
              <a:rPr lang="en-US" sz="1200" dirty="0"/>
              <a:t>Command) ---</a:t>
            </a:r>
          </a:p>
          <a:p>
            <a:r>
              <a:rPr lang="en-US" sz="1200" dirty="0"/>
              <a:t>interface </a:t>
            </a:r>
            <a:r>
              <a:rPr lang="en-US" sz="1200" dirty="0" err="1"/>
              <a:t>FavoriteCommand</a:t>
            </a:r>
            <a:r>
              <a:rPr lang="en-US" sz="1200" dirty="0"/>
              <a:t> {</a:t>
            </a:r>
          </a:p>
          <a:p>
            <a:r>
              <a:rPr lang="en-US" sz="1200" dirty="0"/>
              <a:t>  execute(): void;</a:t>
            </a:r>
          </a:p>
          <a:p>
            <a:r>
              <a:rPr lang="en-US" sz="1200" dirty="0"/>
              <a:t>}</a:t>
            </a:r>
          </a:p>
          <a:p>
            <a:r>
              <a:rPr lang="en-US" sz="1200" dirty="0"/>
              <a:t>// --- </a:t>
            </a:r>
            <a:r>
              <a:rPr lang="uk-UA" sz="1200" dirty="0"/>
              <a:t>Конкретна Команда (</a:t>
            </a:r>
            <a:r>
              <a:rPr lang="en-US" sz="1200" dirty="0"/>
              <a:t>Concrete Command) ---</a:t>
            </a:r>
          </a:p>
          <a:p>
            <a:r>
              <a:rPr lang="en-US" sz="1200" dirty="0"/>
              <a:t>class </a:t>
            </a:r>
            <a:r>
              <a:rPr lang="en-US" sz="1200" dirty="0" err="1"/>
              <a:t>AddFavoriteCommand</a:t>
            </a:r>
            <a:r>
              <a:rPr lang="en-US" sz="1200" dirty="0"/>
              <a:t> implements </a:t>
            </a:r>
            <a:r>
              <a:rPr lang="en-US" sz="1200" dirty="0" err="1"/>
              <a:t>FavoriteCommand</a:t>
            </a:r>
            <a:r>
              <a:rPr lang="en-US" sz="1200" dirty="0"/>
              <a:t> {</a:t>
            </a:r>
          </a:p>
          <a:p>
            <a:r>
              <a:rPr lang="en-US" sz="1200" dirty="0"/>
              <a:t>  constructor(private </a:t>
            </a:r>
            <a:r>
              <a:rPr lang="en-US" sz="1200" dirty="0" err="1"/>
              <a:t>userService</a:t>
            </a:r>
            <a:r>
              <a:rPr lang="en-US" sz="1200" dirty="0"/>
              <a:t>: </a:t>
            </a:r>
            <a:r>
              <a:rPr lang="en-US" sz="1200" dirty="0" err="1"/>
              <a:t>UserService</a:t>
            </a:r>
            <a:r>
              <a:rPr lang="en-US" sz="1200" dirty="0"/>
              <a:t>, private user: User) {}</a:t>
            </a:r>
          </a:p>
          <a:p>
            <a:r>
              <a:rPr lang="en-US" sz="1200" dirty="0"/>
              <a:t>  execute() {</a:t>
            </a:r>
          </a:p>
          <a:p>
            <a:r>
              <a:rPr lang="en-US" sz="1200" dirty="0"/>
              <a:t>    // </a:t>
            </a:r>
            <a:r>
              <a:rPr lang="uk-UA" sz="1200" dirty="0"/>
              <a:t>Ресивер (</a:t>
            </a:r>
            <a:r>
              <a:rPr lang="en-US" sz="1200" dirty="0"/>
              <a:t>Receiver) - </a:t>
            </a:r>
            <a:r>
              <a:rPr lang="en-US" sz="1200" dirty="0" err="1"/>
              <a:t>UserService</a:t>
            </a:r>
            <a:endParaRPr lang="en-US" sz="1200" dirty="0"/>
          </a:p>
          <a:p>
            <a:r>
              <a:rPr lang="en-US" sz="1200" dirty="0"/>
              <a:t>    </a:t>
            </a:r>
            <a:r>
              <a:rPr lang="en-US" sz="1200" dirty="0" err="1"/>
              <a:t>this.userService.addFavorite</a:t>
            </a:r>
            <a:r>
              <a:rPr lang="en-US" sz="1200" dirty="0"/>
              <a:t>(</a:t>
            </a:r>
            <a:r>
              <a:rPr lang="en-US" sz="1200" dirty="0" err="1"/>
              <a:t>this.user</a:t>
            </a:r>
            <a:r>
              <a:rPr lang="en-US" sz="1200" dirty="0"/>
              <a:t>);</a:t>
            </a:r>
          </a:p>
          <a:p>
            <a:r>
              <a:rPr lang="en-US" sz="1200" dirty="0"/>
              <a:t>  }</a:t>
            </a:r>
          </a:p>
          <a:p>
            <a:r>
              <a:rPr lang="en-US" sz="1200" dirty="0"/>
              <a:t>}</a:t>
            </a:r>
          </a:p>
          <a:p>
            <a:r>
              <a:rPr lang="en-US" sz="1200" dirty="0"/>
              <a:t>// --- </a:t>
            </a:r>
            <a:r>
              <a:rPr lang="uk-UA" sz="1200" dirty="0"/>
              <a:t>Використання Команди (</a:t>
            </a:r>
            <a:r>
              <a:rPr lang="en-US" sz="1200" dirty="0"/>
              <a:t>Invoker) ---</a:t>
            </a:r>
          </a:p>
          <a:p>
            <a:r>
              <a:rPr lang="en-US" sz="1200" dirty="0" err="1"/>
              <a:t>toggleFavorite</a:t>
            </a:r>
            <a:r>
              <a:rPr lang="en-US" sz="1200" dirty="0"/>
              <a:t>(user: User) {</a:t>
            </a:r>
          </a:p>
          <a:p>
            <a:r>
              <a:rPr lang="en-US" sz="1200" dirty="0"/>
              <a:t>  let command: </a:t>
            </a:r>
            <a:r>
              <a:rPr lang="en-US" sz="1200" dirty="0" err="1"/>
              <a:t>FavoriteCommand</a:t>
            </a:r>
            <a:r>
              <a:rPr lang="en-US" sz="1200" dirty="0"/>
              <a:t>;</a:t>
            </a:r>
          </a:p>
          <a:p>
            <a:r>
              <a:rPr lang="en-US" sz="1200" dirty="0"/>
              <a:t>  if (</a:t>
            </a:r>
            <a:r>
              <a:rPr lang="en-US" sz="1200" dirty="0" err="1"/>
              <a:t>this.userService.isFavorite</a:t>
            </a:r>
            <a:r>
              <a:rPr lang="en-US" sz="1200" dirty="0"/>
              <a:t>(user.id)) {</a:t>
            </a:r>
          </a:p>
          <a:p>
            <a:r>
              <a:rPr lang="en-US" sz="1200" dirty="0"/>
              <a:t>    command = new </a:t>
            </a:r>
            <a:r>
              <a:rPr lang="en-US" sz="1200" dirty="0" err="1"/>
              <a:t>RemoveFavoriteCommand</a:t>
            </a:r>
            <a:r>
              <a:rPr lang="en-US" sz="1200" dirty="0"/>
              <a:t>(</a:t>
            </a:r>
            <a:r>
              <a:rPr lang="en-US" sz="1200" dirty="0" err="1"/>
              <a:t>this.userService</a:t>
            </a:r>
            <a:r>
              <a:rPr lang="en-US" sz="1200" dirty="0"/>
              <a:t>, user.id);</a:t>
            </a:r>
          </a:p>
          <a:p>
            <a:r>
              <a:rPr lang="en-US" sz="1200" dirty="0"/>
              <a:t>  } else {</a:t>
            </a:r>
          </a:p>
          <a:p>
            <a:r>
              <a:rPr lang="en-US" sz="1200" dirty="0"/>
              <a:t>    command = new </a:t>
            </a:r>
            <a:r>
              <a:rPr lang="en-US" sz="1200" dirty="0" err="1"/>
              <a:t>AddFavoriteCommand</a:t>
            </a:r>
            <a:r>
              <a:rPr lang="en-US" sz="1200" dirty="0"/>
              <a:t>(</a:t>
            </a:r>
            <a:r>
              <a:rPr lang="en-US" sz="1200" dirty="0" err="1"/>
              <a:t>this.userService</a:t>
            </a:r>
            <a:r>
              <a:rPr lang="en-US" sz="1200" dirty="0"/>
              <a:t>, user);</a:t>
            </a:r>
          </a:p>
          <a:p>
            <a:r>
              <a:rPr lang="en-US" sz="1200" dirty="0"/>
              <a:t>  }</a:t>
            </a:r>
          </a:p>
          <a:p>
            <a:r>
              <a:rPr lang="en-US" sz="1200" dirty="0"/>
              <a:t>  </a:t>
            </a:r>
            <a:r>
              <a:rPr lang="en-US" sz="1200" dirty="0" err="1"/>
              <a:t>command.execute</a:t>
            </a:r>
            <a:r>
              <a:rPr lang="en-US" sz="1200" dirty="0"/>
              <a:t>(); // </a:t>
            </a:r>
            <a:r>
              <a:rPr lang="uk-UA" sz="1200" dirty="0"/>
              <a:t>Викликаємо команду через уніфікований метод</a:t>
            </a:r>
          </a:p>
          <a:p>
            <a:r>
              <a:rPr lang="uk-UA" sz="1200" dirty="0"/>
              <a:t>}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2958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4B1AC8C-4EA7-BE04-E57F-7F001323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488" y="270457"/>
            <a:ext cx="4662151" cy="6587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5. </a:t>
            </a:r>
            <a:r>
              <a:rPr lang="uk-UA" dirty="0" err="1"/>
              <a:t>Патерн</a:t>
            </a:r>
            <a:r>
              <a:rPr lang="uk-UA" dirty="0"/>
              <a:t>: </a:t>
            </a:r>
            <a:r>
              <a:rPr lang="en-US" dirty="0"/>
              <a:t>Observer (Behavioral)</a:t>
            </a:r>
            <a:endParaRPr lang="uk-UA" dirty="0"/>
          </a:p>
          <a:p>
            <a:r>
              <a:rPr lang="uk-UA" dirty="0"/>
              <a:t>Опис: Дозволяє об’єктам підписуватися на зміни стану та отримувати повідомлення при зміні.</a:t>
            </a:r>
          </a:p>
          <a:p>
            <a:r>
              <a:rPr lang="uk-UA" dirty="0"/>
              <a:t>Призначення: Синхронізація стану між сервісом і компонентом; автоматичне оновлення </a:t>
            </a:r>
            <a:r>
              <a:rPr lang="en-US" dirty="0"/>
              <a:t>UI </a:t>
            </a:r>
            <a:r>
              <a:rPr lang="uk-UA" dirty="0"/>
              <a:t>при зміні даних.</a:t>
            </a:r>
          </a:p>
          <a:p>
            <a:r>
              <a:rPr lang="uk-UA" dirty="0"/>
              <a:t>Що робить у програмі: Компонент підписується на </a:t>
            </a:r>
            <a:r>
              <a:rPr lang="en-US" dirty="0"/>
              <a:t>favorites$ </a:t>
            </a:r>
            <a:r>
              <a:rPr lang="uk-UA" dirty="0"/>
              <a:t>із </a:t>
            </a:r>
            <a:r>
              <a:rPr lang="en-US" dirty="0" err="1"/>
              <a:t>UserService</a:t>
            </a:r>
            <a:r>
              <a:rPr lang="en-US" dirty="0"/>
              <a:t>, </a:t>
            </a:r>
            <a:r>
              <a:rPr lang="uk-UA" dirty="0"/>
              <a:t>отримує актуальний список улюблених користувачів і оновлює </a:t>
            </a:r>
            <a:r>
              <a:rPr lang="en-US" dirty="0"/>
              <a:t>UI. </a:t>
            </a:r>
            <a:r>
              <a:rPr lang="uk-UA" dirty="0"/>
              <a:t>При закритті компонента відписується, щоб уникнути витоків пам’яті.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5556C-7203-4BA4-8539-BE5B76CE323C}"/>
              </a:ext>
            </a:extLst>
          </p:cNvPr>
          <p:cNvSpPr txBox="1"/>
          <p:nvPr/>
        </p:nvSpPr>
        <p:spPr>
          <a:xfrm>
            <a:off x="5482109" y="270457"/>
            <a:ext cx="350305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uk-UA" sz="2000" dirty="0"/>
              <a:t>Приклад коду:</a:t>
            </a:r>
          </a:p>
          <a:p>
            <a:r>
              <a:rPr lang="uk-UA" sz="1600" dirty="0"/>
              <a:t>// --- Початок Спостереження (Підписка) ---</a:t>
            </a:r>
          </a:p>
          <a:p>
            <a:r>
              <a:rPr lang="en-US" sz="1600" dirty="0" err="1"/>
              <a:t>ngOnInit</a:t>
            </a:r>
            <a:r>
              <a:rPr lang="en-US" sz="1600" dirty="0"/>
              <a:t>() {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this.sub</a:t>
            </a:r>
            <a:r>
              <a:rPr lang="en-US" sz="1600" dirty="0"/>
              <a:t> = </a:t>
            </a:r>
            <a:r>
              <a:rPr lang="en-US" sz="1600" dirty="0" err="1"/>
              <a:t>this.userService.favorites$.subscribe</a:t>
            </a:r>
            <a:r>
              <a:rPr lang="en-US" sz="1600" dirty="0"/>
              <a:t>(list =&gt; {</a:t>
            </a:r>
          </a:p>
          <a:p>
            <a:r>
              <a:rPr lang="en-US" sz="1600" dirty="0"/>
              <a:t>    // </a:t>
            </a:r>
            <a:r>
              <a:rPr lang="uk-UA" sz="1600" dirty="0"/>
              <a:t>Реакція: оновлення локального масиву </a:t>
            </a:r>
            <a:r>
              <a:rPr lang="en-US" sz="1600" dirty="0"/>
              <a:t>favorites </a:t>
            </a:r>
            <a:r>
              <a:rPr lang="uk-UA" sz="1600" dirty="0"/>
              <a:t>при отриманні нового списку</a:t>
            </a:r>
          </a:p>
          <a:p>
            <a:r>
              <a:rPr lang="uk-UA" sz="1600" dirty="0"/>
              <a:t>    </a:t>
            </a:r>
            <a:r>
              <a:rPr lang="en-US" sz="1600" dirty="0" err="1"/>
              <a:t>this.favorites</a:t>
            </a:r>
            <a:r>
              <a:rPr lang="en-US" sz="1600" dirty="0"/>
              <a:t> = list; </a:t>
            </a:r>
          </a:p>
          <a:p>
            <a:r>
              <a:rPr lang="en-US" sz="1600" dirty="0"/>
              <a:t>  });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/>
              <a:t>// --- </a:t>
            </a:r>
            <a:r>
              <a:rPr lang="uk-UA" sz="1600" dirty="0"/>
              <a:t>Завершення Спостереження (Відписка) ---</a:t>
            </a:r>
          </a:p>
          <a:p>
            <a:r>
              <a:rPr lang="en-US" sz="1600" dirty="0" err="1"/>
              <a:t>ngOnDestroy</a:t>
            </a:r>
            <a:r>
              <a:rPr lang="en-US" sz="1600" dirty="0"/>
              <a:t>() {</a:t>
            </a:r>
          </a:p>
          <a:p>
            <a:r>
              <a:rPr lang="en-US" sz="1600" dirty="0"/>
              <a:t>  // </a:t>
            </a:r>
            <a:r>
              <a:rPr lang="uk-UA" sz="1600" dirty="0"/>
              <a:t>Запобігання витоку пам'яті</a:t>
            </a:r>
          </a:p>
          <a:p>
            <a:r>
              <a:rPr lang="uk-UA" sz="1600" dirty="0"/>
              <a:t>  </a:t>
            </a:r>
            <a:r>
              <a:rPr lang="en-US" sz="1600" dirty="0" err="1"/>
              <a:t>this.sub?.unsubscribe</a:t>
            </a:r>
            <a:r>
              <a:rPr lang="en-US" sz="1600" dirty="0"/>
              <a:t>(); </a:t>
            </a:r>
          </a:p>
          <a:p>
            <a:r>
              <a:rPr lang="en-US" sz="1600" dirty="0"/>
              <a:t>}</a:t>
            </a:r>
            <a:endParaRPr lang="uk-UA" sz="1600" dirty="0"/>
          </a:p>
        </p:txBody>
      </p:sp>
    </p:spTree>
    <p:extLst>
      <p:ext uri="{BB962C8B-B14F-4D97-AF65-F5344CB8AC3E}">
        <p14:creationId xmlns:p14="http://schemas.microsoft.com/office/powerpoint/2010/main" val="369991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2184FC5-1C95-64CC-1A72-4558C8A50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29" y="132167"/>
            <a:ext cx="4989371" cy="67258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uk-UA" dirty="0"/>
              <a:t>6 .</a:t>
            </a:r>
            <a:r>
              <a:rPr lang="en-US" dirty="0"/>
              <a:t> </a:t>
            </a:r>
            <a:r>
              <a:rPr lang="en-US" dirty="0" err="1"/>
              <a:t>Патерн</a:t>
            </a:r>
            <a:r>
              <a:rPr lang="en-US" dirty="0"/>
              <a:t>: Inversion of Control </a:t>
            </a:r>
            <a:r>
              <a:rPr lang="uk-UA" dirty="0"/>
              <a:t>(</a:t>
            </a:r>
            <a:r>
              <a:rPr lang="en-US" dirty="0" err="1"/>
              <a:t>Архітектурний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uk-UA" dirty="0"/>
              <a:t>/</a:t>
            </a:r>
            <a:r>
              <a:rPr lang="en-US" dirty="0"/>
              <a:t>Architectural)</a:t>
            </a:r>
            <a:endParaRPr lang="uk-UA" dirty="0"/>
          </a:p>
          <a:p>
            <a:r>
              <a:rPr lang="uk-UA" dirty="0" err="1"/>
              <a:t>Опис:Інверсія</a:t>
            </a:r>
            <a:r>
              <a:rPr lang="uk-UA" dirty="0"/>
              <a:t> керування передає створення і керування </a:t>
            </a:r>
            <a:r>
              <a:rPr lang="uk-UA" dirty="0" err="1"/>
              <a:t>залежностями</a:t>
            </a:r>
            <a:r>
              <a:rPr lang="uk-UA" dirty="0"/>
              <a:t> зовнішньому контейнеру (наприклад, </a:t>
            </a:r>
            <a:r>
              <a:rPr lang="en-US" dirty="0"/>
              <a:t>Angular DI).</a:t>
            </a:r>
            <a:r>
              <a:rPr lang="uk-UA" dirty="0"/>
              <a:t>Замість того щоб об’єкт сам створював потрібні сервіси (</a:t>
            </a:r>
            <a:r>
              <a:rPr lang="en-US" dirty="0"/>
              <a:t>new </a:t>
            </a:r>
            <a:r>
              <a:rPr lang="en-US" dirty="0" err="1"/>
              <a:t>UserService</a:t>
            </a:r>
            <a:r>
              <a:rPr lang="en-US" dirty="0"/>
              <a:t>()), </a:t>
            </a:r>
            <a:r>
              <a:rPr lang="uk-UA" dirty="0"/>
              <a:t>він просто оголошує залежність, а фреймворк сам її надає.</a:t>
            </a:r>
          </a:p>
          <a:p>
            <a:r>
              <a:rPr lang="uk-UA" dirty="0" err="1"/>
              <a:t>Призначення:Відокремити</a:t>
            </a:r>
            <a:r>
              <a:rPr lang="uk-UA" dirty="0"/>
              <a:t> модулі від конкретних реалізацій </a:t>
            </a:r>
            <a:r>
              <a:rPr lang="uk-UA" dirty="0" err="1"/>
              <a:t>залежностей.Полегшити</a:t>
            </a:r>
            <a:r>
              <a:rPr lang="uk-UA" dirty="0"/>
              <a:t> тестування, заміну сервісів, масштабування та повторне використання </a:t>
            </a:r>
            <a:r>
              <a:rPr lang="uk-UA" dirty="0" err="1"/>
              <a:t>коду.Зробити</a:t>
            </a:r>
            <a:r>
              <a:rPr lang="uk-UA" dirty="0"/>
              <a:t> систему гнучкішою, зменшити зв’язність між класами.</a:t>
            </a:r>
          </a:p>
          <a:p>
            <a:r>
              <a:rPr lang="uk-UA" dirty="0"/>
              <a:t>Що робить у програмі:</a:t>
            </a:r>
            <a:r>
              <a:rPr lang="en-US" dirty="0"/>
              <a:t>Angular </a:t>
            </a:r>
            <a:r>
              <a:rPr lang="uk-UA" dirty="0"/>
              <a:t>автоматично створює екземпляр </a:t>
            </a:r>
            <a:r>
              <a:rPr lang="en-US" dirty="0" err="1"/>
              <a:t>UserService</a:t>
            </a:r>
            <a:r>
              <a:rPr lang="en-US" dirty="0"/>
              <a:t> </a:t>
            </a:r>
            <a:r>
              <a:rPr lang="uk-UA" dirty="0"/>
              <a:t>і надає його </a:t>
            </a:r>
            <a:r>
              <a:rPr lang="uk-UA" dirty="0" err="1"/>
              <a:t>компонентам.Компоненти</a:t>
            </a:r>
            <a:r>
              <a:rPr lang="uk-UA" dirty="0"/>
              <a:t> не створюють сервіс самостійно, а отримують його через конструктор</a:t>
            </a:r>
            <a:r>
              <a:rPr lang="en-US" dirty="0"/>
              <a:t>.</a:t>
            </a:r>
            <a:r>
              <a:rPr lang="uk-UA" dirty="0"/>
              <a:t>Так забезпечується слабка зв'язність, легке тестування та централізоване керування </a:t>
            </a:r>
            <a:r>
              <a:rPr lang="uk-UA" dirty="0" err="1"/>
              <a:t>залежностями</a:t>
            </a:r>
            <a:r>
              <a:rPr lang="uk-UA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1C0086-8C16-4A29-9365-C227494065CB}"/>
              </a:ext>
            </a:extLst>
          </p:cNvPr>
          <p:cNvSpPr txBox="1"/>
          <p:nvPr/>
        </p:nvSpPr>
        <p:spPr>
          <a:xfrm>
            <a:off x="5743978" y="132167"/>
            <a:ext cx="332274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Приклад коду</a:t>
            </a:r>
            <a:r>
              <a:rPr lang="en-US" dirty="0"/>
              <a:t>:</a:t>
            </a:r>
            <a:endParaRPr lang="uk-UA" dirty="0"/>
          </a:p>
          <a:p>
            <a:r>
              <a:rPr lang="uk-UA" sz="1600" dirty="0"/>
              <a:t> // Сервіс НЕ створюється через </a:t>
            </a:r>
            <a:r>
              <a:rPr lang="en-US" sz="1600" dirty="0"/>
              <a:t>new </a:t>
            </a:r>
            <a:r>
              <a:rPr lang="en-US" sz="1600" dirty="0" err="1"/>
              <a:t>UserService</a:t>
            </a:r>
            <a:r>
              <a:rPr lang="en-US" sz="1600" dirty="0"/>
              <a:t>()</a:t>
            </a:r>
          </a:p>
          <a:p>
            <a:r>
              <a:rPr lang="en-US" sz="1600" dirty="0"/>
              <a:t>  // Angular DI </a:t>
            </a:r>
            <a:r>
              <a:rPr lang="uk-UA" sz="1600" dirty="0"/>
              <a:t>інвертує контроль і сам передає залежність</a:t>
            </a:r>
          </a:p>
          <a:p>
            <a:r>
              <a:rPr lang="uk-UA" sz="1600" dirty="0"/>
              <a:t>  </a:t>
            </a:r>
            <a:r>
              <a:rPr lang="en-US" sz="1600" dirty="0"/>
              <a:t>constructor(private </a:t>
            </a:r>
            <a:r>
              <a:rPr lang="en-US" sz="1600" dirty="0" err="1"/>
              <a:t>userService</a:t>
            </a:r>
            <a:r>
              <a:rPr lang="en-US" sz="1600" dirty="0"/>
              <a:t>: </a:t>
            </a:r>
            <a:r>
              <a:rPr lang="en-US" sz="1600" dirty="0" err="1"/>
              <a:t>UserService</a:t>
            </a:r>
            <a:r>
              <a:rPr lang="en-US" sz="1600" dirty="0"/>
              <a:t>) {}</a:t>
            </a:r>
            <a:endParaRPr lang="uk-UA" sz="1600" dirty="0"/>
          </a:p>
        </p:txBody>
      </p:sp>
    </p:spTree>
    <p:extLst>
      <p:ext uri="{BB962C8B-B14F-4D97-AF65-F5344CB8AC3E}">
        <p14:creationId xmlns:p14="http://schemas.microsoft.com/office/powerpoint/2010/main" val="843919716"/>
      </p:ext>
    </p:extLst>
  </p:cSld>
  <p:clrMapOvr>
    <a:masterClrMapping/>
  </p:clrMapOvr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Грань</Template>
  <TotalTime>161</TotalTime>
  <Words>1336</Words>
  <Application>Microsoft Office PowerPoint</Application>
  <PresentationFormat>Широкий екран</PresentationFormat>
  <Paragraphs>119</Paragraphs>
  <Slides>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 3</vt:lpstr>
      <vt:lpstr>Грань</vt:lpstr>
      <vt:lpstr>Демонстрація застосування дизайн-патернів у вебзастосунку на Angular</vt:lpstr>
      <vt:lpstr>Опис застосунку</vt:lpstr>
      <vt:lpstr>Архітектура застосунку</vt:lpstr>
      <vt:lpstr>Дизайн-Патерни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Демонстрація застосування дизайн-патернів у вебзастосунку на Angular</dc:title>
  <dc:creator>Марія Коломієць</dc:creator>
  <cp:lastModifiedBy>Xellikka@gmail.com</cp:lastModifiedBy>
  <cp:revision>6</cp:revision>
  <dcterms:created xsi:type="dcterms:W3CDTF">2025-11-29T00:53:06Z</dcterms:created>
  <dcterms:modified xsi:type="dcterms:W3CDTF">2025-11-29T21:21:43Z</dcterms:modified>
</cp:coreProperties>
</file>